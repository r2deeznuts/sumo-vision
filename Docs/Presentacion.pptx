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35392" y="1803052"/>
            <a:ext cx="972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VISIÓN ARTIFICIAL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10651" y="2569911"/>
            <a:ext cx="677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Juan José Prado Neira</a:t>
            </a:r>
            <a:endParaRPr b="1" sz="3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Javier Rego Bargos</a:t>
            </a:r>
            <a:endParaRPr b="1" sz="3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619750" y="3521273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111823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Detección de carriles, navegación autónoma y protocolos de expulsión de objetos mediante ESP32-CAM y OpenCV.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6312" y="29527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29400" y="411480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sistema no se limita a seguir una línea, sino que gestiona una secuencia operativa completa.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81125" y="2262187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Navegación en Carril: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Recorrer un camino delimitado con cinta aislante negra.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81125" y="312896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Percepción Inteligente: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Detectar objetos situados dentro de la vía de circulación.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81125" y="3995737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Actuación Completa: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Apartar obstáculos y continuar la marcha de forma autónoma.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81125" y="486251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Integración: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Unificar percepción, decisión y actuación en tiempo real.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3002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670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033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9006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2547937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552575"/>
            <a:ext cx="2547937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552575"/>
            <a:ext cx="2547937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552575"/>
            <a:ext cx="2547937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80373" y="2581275"/>
            <a:ext cx="15301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Recepción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333750"/>
            <a:ext cx="1957387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Captura y recepción del flujo de video desde la ESP32-CAM.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899058" y="2581275"/>
            <a:ext cx="15601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Procesado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700462" y="3333750"/>
            <a:ext cx="1957387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Detección de carril y objetos mediante algoritmos de OpenCV.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92766" y="2581275"/>
            <a:ext cx="12401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Decisión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3333750"/>
            <a:ext cx="1957387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Lógica de control para determinar el movimiento necesario.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86436" y="2581275"/>
            <a:ext cx="15201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Actuación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367837" y="3333750"/>
            <a:ext cx="1957387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Traducción de decisiones en comandos UDP para el robot.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8293" y="18954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0556" y="1895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4243" y="1895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60781" y="18954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Arquitectura del Sistema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81487"/>
            <a:ext cx="52863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20145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Hardware y Protocolo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6241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ESP32-CAM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captura la imagen y la envía vía UDP para garantizar baja latencia en tiempo real.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34623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procesamiento pesado ocurre en un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 con Python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que reconstruye los frames JPEG y decide la acción.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4576762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UDP permite descartar paquetes corruptos y evitar retrasos acumulados (lag).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62438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Solución Distribuida y UDP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20849" t="0"/>
          <a:stretch/>
        </p:blipFill>
        <p:spPr>
          <a:xfrm>
            <a:off x="6334125" y="2039800"/>
            <a:ext cx="5286374" cy="375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Procesamiento y Depuración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542925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Permite ajustar parámetros de detección incluso con iluminación no uniforme.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381125" y="2305050"/>
            <a:ext cx="4143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ROI: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Región de interés centrada en la parte inferior de la imagen.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381125" y="3171825"/>
            <a:ext cx="4143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Máscara Binaria: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Combinación de contraste local y umbral absoluto para detectar cinta negra.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81125" y="4352925"/>
            <a:ext cx="4143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Interfaz 4 vistas: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Monitorización en directo (Máscara, ROI, Depuración y Original).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343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2099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3910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2625" y="1382813"/>
            <a:ext cx="6384273" cy="409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528637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71725"/>
            <a:ext cx="52863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66775" y="2667000"/>
            <a:ext cx="334041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Dos Líneas Detectadas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3419475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sistema calcula el centro del carril como el punto medio exacto entre ambos contornos.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4400550"/>
            <a:ext cx="438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Máxima precisión en el seguimiento.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29400" y="2667000"/>
            <a:ext cx="21602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Una Sola Línea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629400" y="3419475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Estima la posición del centro utilizando el ancho de carril observado previamente.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629400" y="440055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Mantenimiento del seguimiento ante oclusiones temporales.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Lógica de Detección de Carril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0450" y="4010100"/>
            <a:ext cx="892492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1410450" y="2628975"/>
            <a:ext cx="937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Filtrado Inteligente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410450" y="3238575"/>
            <a:ext cx="8925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objetos se identifican por su baja saturación y se filtran por área, forma y posición en la trayectoria.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705725" y="4305375"/>
            <a:ext cx="8334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Crítico:</a:t>
            </a:r>
            <a:r>
              <a:rPr b="0" i="0" lang="en-US" sz="165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 La zona del objeto se elimina de la máscara de líneas para evitar confusiones en la navegación.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Detección de Obstáculos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1062" y="2962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6629400" y="4105275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Lógica robusta que prioriza la seguridad física del prototipo.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381125" y="2262187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Seguimiento Normal: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Comparación del centro estimado con el centro de la imagen.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381125" y="312896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Activación Segura: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El movimiento no inicia hasta que el operador lo confirma.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381125" y="3995737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Modo Manual: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Control directo útil durante fases de prueba y calibración.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381125" y="486251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Control Proporcional: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Curvas suaves o pronunciadas según el offset.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300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67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0338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9006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Toma de Decisiones y Seguridad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48815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Secuencia automática repetible para múltiples obstáculos.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37385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10733" y="2976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1. Centrar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672530" y="3519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3900487"/>
            <a:ext cx="24306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Alinea el objeto con el eje del robot.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3383413" y="2976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2. Aproximar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545210" y="3519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444180" y="3900487"/>
            <a:ext cx="2430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Acercamiento controlado al obstáculo.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256094" y="2976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3. Empujar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7417891" y="3519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316860" y="3900487"/>
            <a:ext cx="2430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Maniobra de fuerza para sacarlo de la vía.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128774" y="2976562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4. Reincorporar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0290571" y="3519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189541" y="3900487"/>
            <a:ext cx="2430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Marcha atrás curva para volver al carril.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Protocolo de Expulsión de Objetos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71500" y="47386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Análisis basado en logs CSV y videos de depuración grabados en tiempo real.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Resultados de las Pruebas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43175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7552134" y="2838450"/>
            <a:ext cx="28503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Conclusión Técnica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629400" y="3590925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sistema es funcional pero depende de la adherencia y la velocidad real del robot para la precisión de las maniobras.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381125" y="269557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Mecánica: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Deslizamiento de objetos según forma y material.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381125" y="3429000"/>
            <a:ext cx="4476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Detección Residual: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Riesgo de volver a detectar objetos expulsados parcialmente.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733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075" y="3429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Limitaciones y Desafíos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4370784" y="3071824"/>
            <a:ext cx="3450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286000" y="3986225"/>
            <a:ext cx="7620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ha conseguido un prototipo funcional que integra visión, decisión y actuación para la navegación y limpieza de carriles de forma autónoma.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25" y="2243149"/>
            <a:ext cx="6667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2890599" y="2038350"/>
            <a:ext cx="641080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267200" y="3562350"/>
            <a:ext cx="3657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Muchas 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